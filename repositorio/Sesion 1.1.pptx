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9144000"/>
  <p:embeddedFontLst>
    <p:embeddedFont>
      <p:font typeface="Inconsolata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gzHrYCLFseKoZC20bqTaBmYr9p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nconsolata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Inconsolata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" name="Google Shape;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3f13ac8ec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g33f13ac8ecd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1e59ed1e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g341e59ed1ec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1e59ed1e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41e59ed1ec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f13ac8ec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3f13ac8ecd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1e59ed1e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41e59ed1ec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1e59ed1e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41e59ed1ec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f13ac8ec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3f13ac8ecd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f13ac8ec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3f13ac8ecd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1e59ed1e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41e59ed1ec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1e59ed1e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41e59ed1ec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1e59ed1e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41e59ed1ec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1e59ed1e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41e59ed1ec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8d66cfbc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38d66cfbc7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8d66cfbc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38d66cfbc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f13ac8ec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3f13ac8ecd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8d66cfbc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-- Crear tabla DetallesPedidos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CREATE TABLE DetallesPedidos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	DetalleID NUMBER PRIMARY KEY,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	PedidoID NUMBER,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	ProductoID NUMBER,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	Cantidad NUMBER,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	CONSTRAINT fk_detalle_pedido FOREIGN KEY (PedidoID) REFERENCES Pedidos(PedidoID),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	CONSTRAINT fk_detalle_producto FOREIGN KEY (ProductoID) REFERENCES Productos(ProductoID)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-- Insertar datos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INSERT INTO DetallesPedidos VALUES (1, 101, 1, 2); -- Pedido 101: 2 Laptops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INSERT INTO DetallesPedidos VALUES (2, 101, 2, 5); -- Pedido 101: 5 Mouse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-- Verificar datos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SELECT * FROM DetallesPedidos;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-- Commit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COMMIT;</a:t>
            </a:r>
            <a:endParaRPr/>
          </a:p>
        </p:txBody>
      </p:sp>
      <p:sp>
        <p:nvSpPr>
          <p:cNvPr id="167" name="Google Shape;167;g338d66cfbc7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42911eaa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-- Crear tabla DetallesPedidos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CREATE TABLE DetallesPedidos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	DetalleID NUMBER PRIMARY KEY,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	PedidoID NUMBER,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	ProductoID NUMBER,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	Cantidad NUMBER,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	CONSTRAINT fk_detalle_pedido FOREIGN KEY (PedidoID) REFERENCES Pedidos(PedidoID),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	CONSTRAINT fk_detalle_producto FOREIGN KEY (ProductoID) REFERENCES Productos(ProductoID)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-- Insertar datos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INSERT INTO DetallesPedidos VALUES (1, 101, 1, 2); -- Pedido 101: 2 Laptops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INSERT INTO DetallesPedidos VALUES (2, 101, 2, 5); -- Pedido 101: 5 Mouse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-- Verificar datos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SELECT * FROM DetallesPedidos;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-- Commit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COMMIT;</a:t>
            </a:r>
            <a:endParaRPr/>
          </a:p>
        </p:txBody>
      </p:sp>
      <p:sp>
        <p:nvSpPr>
          <p:cNvPr id="174" name="Google Shape;174;g342911eaa4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3f13ac8ec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33f13ac8ecd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f13ac8ecd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3f13ac8ecd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9000">
              <a:srgbClr val="264478"/>
            </a:gs>
            <a:gs pos="20000">
              <a:schemeClr val="dk1"/>
            </a:gs>
            <a:gs pos="83000">
              <a:schemeClr val="dk1"/>
            </a:gs>
            <a:gs pos="84000">
              <a:srgbClr val="254378"/>
            </a:gs>
            <a:gs pos="100000">
              <a:srgbClr val="254378"/>
            </a:gs>
          </a:gsLst>
          <a:lin ang="2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hyperlink" Target="https://dbdiagram.io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hyperlink" Target="https://git-scm.com/doc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/>
          <p:nvPr/>
        </p:nvSpPr>
        <p:spPr>
          <a:xfrm>
            <a:off x="2635925" y="6094102"/>
            <a:ext cx="692014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YA COMENZAMOS...</a:t>
            </a:r>
            <a:endParaRPr i="0" sz="1400" u="none" cap="none" strike="noStrike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descr="Icono&#10;&#10;Descripción generada automáticamente con confianza baja" id="28" name="Google Shape;28;p1"/>
          <p:cNvPicPr preferRelativeResize="0"/>
          <p:nvPr/>
        </p:nvPicPr>
        <p:blipFill rotWithShape="1">
          <a:blip r:embed="rId3">
            <a:alphaModFix/>
          </a:blip>
          <a:srcRect b="0" l="0" r="50939" t="0"/>
          <a:stretch/>
        </p:blipFill>
        <p:spPr>
          <a:xfrm>
            <a:off x="203265" y="164028"/>
            <a:ext cx="1293223" cy="1199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Descripción generada automáticamente con confianza baja" id="29" name="Google Shape;29;p1"/>
          <p:cNvPicPr preferRelativeResize="0"/>
          <p:nvPr/>
        </p:nvPicPr>
        <p:blipFill rotWithShape="1">
          <a:blip r:embed="rId4">
            <a:alphaModFix/>
          </a:blip>
          <a:srcRect b="0" l="50939" r="0" t="50000"/>
          <a:stretch/>
        </p:blipFill>
        <p:spPr>
          <a:xfrm>
            <a:off x="1342702" y="763898"/>
            <a:ext cx="1293223" cy="599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Diagrama&#10;&#10;Descripción generada automáticamente" id="30" name="Google Shape;3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76624" y="0"/>
            <a:ext cx="5976680" cy="5976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2635925" y="5687931"/>
            <a:ext cx="692014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202</a:t>
            </a:r>
            <a:r>
              <a:rPr b="1" lang="es-ES" sz="3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6</a:t>
            </a:r>
            <a:r>
              <a:rPr b="1" i="0" lang="es-ES" sz="36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-1</a:t>
            </a:r>
            <a:endParaRPr i="0" sz="1400" u="none" cap="none" strike="noStrike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descr="Icono&#10;&#10;Descripción generada automáticamente con confianza baja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50939" t="0"/>
          <a:stretch/>
        </p:blipFill>
        <p:spPr>
          <a:xfrm>
            <a:off x="203265" y="164028"/>
            <a:ext cx="1293223" cy="1199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Descripción generada automáticamente con confianza baja" id="37" name="Google Shape;37;p2"/>
          <p:cNvPicPr preferRelativeResize="0"/>
          <p:nvPr/>
        </p:nvPicPr>
        <p:blipFill rotWithShape="1">
          <a:blip r:embed="rId4">
            <a:alphaModFix/>
          </a:blip>
          <a:srcRect b="0" l="50939" r="0" t="50000"/>
          <a:stretch/>
        </p:blipFill>
        <p:spPr>
          <a:xfrm>
            <a:off x="1342702" y="763898"/>
            <a:ext cx="1293223" cy="59987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2635925" y="2367171"/>
            <a:ext cx="6920100" cy="21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lang="es-ES" sz="66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TÓPICOS AVANZADOS DE DATOS</a:t>
            </a:r>
            <a:endParaRPr i="0" sz="1400" u="none" cap="none" strike="noStrike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400000" scaled="0"/>
        </a:gra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43" name="Google Shape;43;p3"/>
          <p:cNvPicPr preferRelativeResize="0"/>
          <p:nvPr/>
        </p:nvPicPr>
        <p:blipFill rotWithShape="1">
          <a:blip r:embed="rId3">
            <a:alphaModFix/>
          </a:blip>
          <a:srcRect b="0" l="0" r="50939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"/>
          <p:cNvSpPr txBox="1"/>
          <p:nvPr/>
        </p:nvSpPr>
        <p:spPr>
          <a:xfrm>
            <a:off x="2302042" y="0"/>
            <a:ext cx="941671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i="0" lang="es-ES" sz="40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AGENDA</a:t>
            </a:r>
            <a:endParaRPr i="0" sz="4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1668379" y="946484"/>
            <a:ext cx="94167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Inconsolata"/>
              <a:buAutoNum type="arabicPeriod"/>
            </a:pPr>
            <a:r>
              <a:rPr i="0" lang="es-ES" sz="2800" u="none" cap="none" strike="noStrike">
                <a:solidFill>
                  <a:schemeClr val="accent6"/>
                </a:solidFill>
                <a:latin typeface="Inconsolata"/>
                <a:ea typeface="Inconsolata"/>
                <a:cs typeface="Inconsolata"/>
                <a:sym typeface="Inconsolata"/>
              </a:rPr>
              <a:t>Información de contacto</a:t>
            </a:r>
            <a:endParaRPr i="0" sz="1400" u="none" cap="none" strike="noStrike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Introducción</a:t>
            </a: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 a GIT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Creación</a:t>
            </a: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 de repositorio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Basics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Introducción</a:t>
            </a: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 a Base de Datos Relacionales</a:t>
            </a:r>
            <a:endParaRPr i="0" sz="1400" u="none" cap="none" strike="noStrike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Tablas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Llaves primarias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Llaves </a:t>
            </a: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foráneas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Relaciones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Ejercicio </a:t>
            </a: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práctico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i="0" lang="es-ES" sz="28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Bibliografía</a:t>
            </a:r>
            <a:endParaRPr i="0" sz="28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>
            <a:off x="3461838" y="2125227"/>
            <a:ext cx="5268324" cy="2607546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2650" lIns="65300" spcFirstLastPara="1" rIns="65300" wrap="square" tIns="32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Félix Nilo Bustios</a:t>
            </a:r>
            <a:endParaRPr b="1" i="0" sz="24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s-ES" sz="20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Email:felixjesusnilob@gmail.com</a:t>
            </a:r>
            <a:endParaRPr i="0" sz="2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s-ES" sz="20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Discord: Flex#5341</a:t>
            </a:r>
            <a:endParaRPr i="0" sz="1400" u="none" cap="none" strike="noStrike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s-ES" sz="20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LinkedIn: Felix Nilo</a:t>
            </a:r>
            <a:endParaRPr i="0" sz="1400" u="none" cap="none" strike="noStrike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descr="Icono&#10;&#10;Descripción generada automáticamente con confianza baja" id="51" name="Google Shape;51;p4"/>
          <p:cNvPicPr preferRelativeResize="0"/>
          <p:nvPr/>
        </p:nvPicPr>
        <p:blipFill rotWithShape="1">
          <a:blip r:embed="rId3">
            <a:alphaModFix/>
          </a:blip>
          <a:srcRect b="0" l="0" r="50939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Descripción generada automáticamente con confianza baja" id="52" name="Google Shape;52;p4"/>
          <p:cNvPicPr preferRelativeResize="0"/>
          <p:nvPr/>
        </p:nvPicPr>
        <p:blipFill rotWithShape="1">
          <a:blip r:embed="rId4">
            <a:alphaModFix/>
          </a:blip>
          <a:srcRect b="0" l="50939" r="0" t="50000"/>
          <a:stretch/>
        </p:blipFill>
        <p:spPr>
          <a:xfrm>
            <a:off x="1145754" y="599870"/>
            <a:ext cx="1293223" cy="599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399891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57" name="Google Shape;57;g33f13ac8ecd_0_2"/>
          <p:cNvPicPr preferRelativeResize="0"/>
          <p:nvPr/>
        </p:nvPicPr>
        <p:blipFill rotWithShape="1">
          <a:blip r:embed="rId3">
            <a:alphaModFix/>
          </a:blip>
          <a:srcRect b="0" l="0" r="50940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g33f13ac8ecd_0_2"/>
          <p:cNvSpPr txBox="1"/>
          <p:nvPr/>
        </p:nvSpPr>
        <p:spPr>
          <a:xfrm>
            <a:off x="2302042" y="0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i="0" lang="es-ES" sz="40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AGENDA</a:t>
            </a:r>
            <a:endParaRPr i="0" sz="4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59" name="Google Shape;59;g33f13ac8ecd_0_2"/>
          <p:cNvSpPr txBox="1"/>
          <p:nvPr/>
        </p:nvSpPr>
        <p:spPr>
          <a:xfrm>
            <a:off x="1668379" y="946484"/>
            <a:ext cx="94167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i="0" lang="es-ES" sz="28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Información de contacto</a:t>
            </a:r>
            <a:endParaRPr i="0" sz="14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accent6"/>
                </a:solidFill>
                <a:latin typeface="Inconsolata"/>
                <a:ea typeface="Inconsolata"/>
                <a:cs typeface="Inconsolata"/>
                <a:sym typeface="Inconsolata"/>
              </a:rPr>
              <a:t>Introducción a GIT</a:t>
            </a:r>
            <a:endParaRPr sz="2800">
              <a:solidFill>
                <a:schemeClr val="accent6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Creación de repositorio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Basics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Introducción a Base de Datos Relacionales</a:t>
            </a:r>
            <a:endParaRPr i="0" sz="1400" u="none" cap="none" strike="noStrike">
              <a:solidFill>
                <a:srgbClr val="0000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Tablas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Llaves primarias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Llaves foráneas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Relaciones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Ejercicio práctico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i="0" lang="es-ES" sz="28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Bibliografía</a:t>
            </a:r>
            <a:endParaRPr i="0" sz="28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400000" scaled="0"/>
        </a:gra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64" name="Google Shape;64;p6"/>
          <p:cNvPicPr preferRelativeResize="0"/>
          <p:nvPr/>
        </p:nvPicPr>
        <p:blipFill rotWithShape="1">
          <a:blip r:embed="rId3">
            <a:alphaModFix/>
          </a:blip>
          <a:srcRect b="0" l="0" r="50939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6"/>
          <p:cNvSpPr txBox="1"/>
          <p:nvPr/>
        </p:nvSpPr>
        <p:spPr>
          <a:xfrm>
            <a:off x="2318084" y="-14009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ES" sz="4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GIT</a:t>
            </a:r>
            <a:endParaRPr i="0" sz="4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1387642" y="1461865"/>
            <a:ext cx="94167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⮚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¿Qué es Git?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Git es un sistema de control de versiones distribuido que permite rastrear cambios en el código y colaborar en proyectos.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⮚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Ventajas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Seguimiento de cambios históricos.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Trabajo colaborativo (múltiples personas en el mismo proyecto).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Ramas para experimentar sin afectar el código principal.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399891" scaled="0"/>
        </a:gra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71" name="Google Shape;71;g341e59ed1ec_0_1"/>
          <p:cNvPicPr preferRelativeResize="0"/>
          <p:nvPr/>
        </p:nvPicPr>
        <p:blipFill rotWithShape="1">
          <a:blip r:embed="rId3">
            <a:alphaModFix/>
          </a:blip>
          <a:srcRect b="0" l="0" r="50940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41e59ed1ec_0_1"/>
          <p:cNvSpPr txBox="1"/>
          <p:nvPr/>
        </p:nvSpPr>
        <p:spPr>
          <a:xfrm>
            <a:off x="2318084" y="-14009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ES" sz="4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GIT</a:t>
            </a:r>
            <a:endParaRPr i="0" sz="4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3" name="Google Shape;73;g341e59ed1ec_0_1"/>
          <p:cNvSpPr txBox="1"/>
          <p:nvPr/>
        </p:nvSpPr>
        <p:spPr>
          <a:xfrm>
            <a:off x="1387642" y="1461865"/>
            <a:ext cx="9416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⮚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Conceptos clave: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Repositorio: Espacio donde se almacenan los archivos y su historial.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Commit: Registro de un cambio en el repositorio.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Push/Pull: Enviar y recibir cambios desde un repositorio remoto (como GitHub).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399891" scaled="0"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78" name="Google Shape;78;g341e59ed1ec_0_7"/>
          <p:cNvPicPr preferRelativeResize="0"/>
          <p:nvPr/>
        </p:nvPicPr>
        <p:blipFill rotWithShape="1">
          <a:blip r:embed="rId3">
            <a:alphaModFix/>
          </a:blip>
          <a:srcRect b="0" l="0" r="50940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341e59ed1ec_0_7"/>
          <p:cNvSpPr txBox="1"/>
          <p:nvPr/>
        </p:nvSpPr>
        <p:spPr>
          <a:xfrm>
            <a:off x="2318084" y="-14009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ES" sz="4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GIT</a:t>
            </a:r>
            <a:endParaRPr i="0" sz="4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0" name="Google Shape;80;g341e59ed1ec_0_7"/>
          <p:cNvSpPr txBox="1"/>
          <p:nvPr/>
        </p:nvSpPr>
        <p:spPr>
          <a:xfrm>
            <a:off x="1387642" y="1461865"/>
            <a:ext cx="9416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⮚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Conceptos clave: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Repositorio: Espacio donde se almacenan los archivos y su historial.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Commit: Registro de un cambio en el repositorio.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Push/Pull: Enviar y recibir cambios desde un repositorio remoto (como GitHub).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399891" scaled="0"/>
        </a:gra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85" name="Google Shape;85;g33f13ac8ecd_0_8"/>
          <p:cNvPicPr preferRelativeResize="0"/>
          <p:nvPr/>
        </p:nvPicPr>
        <p:blipFill rotWithShape="1">
          <a:blip r:embed="rId3">
            <a:alphaModFix/>
          </a:blip>
          <a:srcRect b="0" l="0" r="50940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3f13ac8ecd_0_8"/>
          <p:cNvSpPr txBox="1"/>
          <p:nvPr/>
        </p:nvSpPr>
        <p:spPr>
          <a:xfrm>
            <a:off x="2318084" y="-14009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ES" sz="4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CREACIÓN</a:t>
            </a:r>
            <a:r>
              <a:rPr lang="es-ES" sz="4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 REPOSITORIO EN </a:t>
            </a:r>
            <a:r>
              <a:rPr lang="es-ES" sz="4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GIT</a:t>
            </a:r>
            <a:endParaRPr i="0" sz="4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7" name="Google Shape;87;g33f13ac8ecd_0_8"/>
          <p:cNvSpPr txBox="1"/>
          <p:nvPr/>
        </p:nvSpPr>
        <p:spPr>
          <a:xfrm>
            <a:off x="1387642" y="1461865"/>
            <a:ext cx="94167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mkdir topicos_avanzados_datos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cd topicos_avanzados_datos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git init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Creamos repositorio en github de nombre: [apellido]_[nombre]_topicos_avanzados_datos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git remote add origin https://github.com/[tu-usuario]/[apellido]_[nombre]_topicos_avanzados_datos.git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399891" scaled="0"/>
        </a:gra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92" name="Google Shape;92;g341e59ed1ec_0_17"/>
          <p:cNvPicPr preferRelativeResize="0"/>
          <p:nvPr/>
        </p:nvPicPr>
        <p:blipFill rotWithShape="1">
          <a:blip r:embed="rId3">
            <a:alphaModFix/>
          </a:blip>
          <a:srcRect b="0" l="0" r="50940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41e59ed1ec_0_17"/>
          <p:cNvSpPr txBox="1"/>
          <p:nvPr/>
        </p:nvSpPr>
        <p:spPr>
          <a:xfrm>
            <a:off x="2318084" y="-14009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ES" sz="4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CREACIÓN REPOSITORIO EN GIT</a:t>
            </a:r>
            <a:endParaRPr i="0" sz="4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94" name="Google Shape;94;g341e59ed1ec_0_17"/>
          <p:cNvSpPr txBox="1"/>
          <p:nvPr/>
        </p:nvSpPr>
        <p:spPr>
          <a:xfrm>
            <a:off x="1387642" y="1412015"/>
            <a:ext cx="9416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En nuestro directorio creamos README.md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echo "# Tópicos Avanzados en Datos" &gt; README.md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git add README.md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git commit -m "lab/se agrega README inicial"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git push origin main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399891" scaled="0"/>
        </a:gra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99" name="Google Shape;99;g341e59ed1ec_0_25"/>
          <p:cNvPicPr preferRelativeResize="0"/>
          <p:nvPr/>
        </p:nvPicPr>
        <p:blipFill rotWithShape="1">
          <a:blip r:embed="rId3">
            <a:alphaModFix/>
          </a:blip>
          <a:srcRect b="0" l="0" r="50940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41e59ed1ec_0_25"/>
          <p:cNvSpPr txBox="1"/>
          <p:nvPr/>
        </p:nvSpPr>
        <p:spPr>
          <a:xfrm>
            <a:off x="2318084" y="-14009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ES" sz="4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COMANDOS </a:t>
            </a:r>
            <a:r>
              <a:rPr lang="es-ES" sz="4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BÁSICOS</a:t>
            </a:r>
            <a:endParaRPr i="0" sz="4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01" name="Google Shape;101;g341e59ed1ec_0_25"/>
          <p:cNvSpPr txBox="1"/>
          <p:nvPr/>
        </p:nvSpPr>
        <p:spPr>
          <a:xfrm>
            <a:off x="1387642" y="1199740"/>
            <a:ext cx="94167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git add .: Añade todos los cambios al área de preparación.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git commit -m "Mensaje": Registra los cambios con un mensaje.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git push origin main: Envía los cambios al repositorio remoto.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git pull: Descarga los cambios del repositorio remoto.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git status: Muestra el estado actual del repositorio.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git branch [nueva-rama]: crea una nueva rama de trabajo.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399891" scaled="0"/>
        </a:gra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106" name="Google Shape;106;g33f13ac8ecd_0_44"/>
          <p:cNvPicPr preferRelativeResize="0"/>
          <p:nvPr/>
        </p:nvPicPr>
        <p:blipFill rotWithShape="1">
          <a:blip r:embed="rId3">
            <a:alphaModFix/>
          </a:blip>
          <a:srcRect b="0" l="0" r="50940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3f13ac8ecd_0_44"/>
          <p:cNvSpPr txBox="1"/>
          <p:nvPr/>
        </p:nvSpPr>
        <p:spPr>
          <a:xfrm>
            <a:off x="2302042" y="0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i="0" lang="es-ES" sz="40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AGENDA</a:t>
            </a:r>
            <a:endParaRPr i="0" sz="4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08" name="Google Shape;108;g33f13ac8ecd_0_44"/>
          <p:cNvSpPr txBox="1"/>
          <p:nvPr/>
        </p:nvSpPr>
        <p:spPr>
          <a:xfrm>
            <a:off x="1668379" y="946484"/>
            <a:ext cx="94167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i="0" lang="es-ES" sz="28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Información de contacto</a:t>
            </a:r>
            <a:endParaRPr i="0" sz="14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Introducción a GIT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Creación de repositorio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Basics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accent6"/>
                </a:solidFill>
                <a:latin typeface="Inconsolata"/>
                <a:ea typeface="Inconsolata"/>
                <a:cs typeface="Inconsolata"/>
                <a:sym typeface="Inconsolata"/>
              </a:rPr>
              <a:t>Introducción a Base de Datos Relacionales</a:t>
            </a:r>
            <a:endParaRPr i="0" sz="1400" u="none" cap="none" strike="noStrike">
              <a:solidFill>
                <a:schemeClr val="accent6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Tablas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Llaves primarias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Llaves foráneas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Relaciones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Ejercicio práctico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i="0" lang="es-ES" sz="28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Bibliografía</a:t>
            </a:r>
            <a:endParaRPr i="0" sz="28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399891" scaled="0"/>
        </a:gra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113" name="Google Shape;113;g33f13ac8ecd_0_38"/>
          <p:cNvPicPr preferRelativeResize="0"/>
          <p:nvPr/>
        </p:nvPicPr>
        <p:blipFill rotWithShape="1">
          <a:blip r:embed="rId3">
            <a:alphaModFix/>
          </a:blip>
          <a:srcRect b="0" l="0" r="50940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3f13ac8ecd_0_38"/>
          <p:cNvSpPr txBox="1"/>
          <p:nvPr/>
        </p:nvSpPr>
        <p:spPr>
          <a:xfrm>
            <a:off x="2318084" y="-14009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ES" sz="4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BASES DE DATOS RELACIONALES</a:t>
            </a:r>
            <a:endParaRPr i="0" sz="4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15" name="Google Shape;115;g33f13ac8ecd_0_38"/>
          <p:cNvSpPr txBox="1"/>
          <p:nvPr/>
        </p:nvSpPr>
        <p:spPr>
          <a:xfrm>
            <a:off x="1387642" y="1461865"/>
            <a:ext cx="94167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Una base de datos relacional organiza los datos en tablas, donde cada tabla contiene filas y columnas, y las tablas están relacionadas mediante claves.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Características</a:t>
            </a: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: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Datos estructurados (tablas).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Uso de SQL para consultas y manipulaciones.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Relaciones entre tablas mediante claves primarias y foráneas.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399891" scaled="0"/>
        </a:gra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120" name="Google Shape;120;g341e59ed1ec_0_42"/>
          <p:cNvPicPr preferRelativeResize="0"/>
          <p:nvPr/>
        </p:nvPicPr>
        <p:blipFill rotWithShape="1">
          <a:blip r:embed="rId3">
            <a:alphaModFix/>
          </a:blip>
          <a:srcRect b="0" l="0" r="50940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41e59ed1ec_0_42"/>
          <p:cNvSpPr txBox="1"/>
          <p:nvPr/>
        </p:nvSpPr>
        <p:spPr>
          <a:xfrm>
            <a:off x="2318084" y="-14009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ES" sz="4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BASES DE DATOS RELACIONALES</a:t>
            </a:r>
            <a:endParaRPr i="0" sz="4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22" name="Google Shape;122;g341e59ed1ec_0_42"/>
          <p:cNvSpPr txBox="1"/>
          <p:nvPr/>
        </p:nvSpPr>
        <p:spPr>
          <a:xfrm>
            <a:off x="1387642" y="1461865"/>
            <a:ext cx="94167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Ventajas: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Integridad de datos (restricciones).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Consultas eficientes con SQL.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Escalabilidad y mantenimiento.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399891" scaled="0"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127" name="Google Shape;127;g341e59ed1ec_0_49"/>
          <p:cNvPicPr preferRelativeResize="0"/>
          <p:nvPr/>
        </p:nvPicPr>
        <p:blipFill rotWithShape="1">
          <a:blip r:embed="rId3">
            <a:alphaModFix/>
          </a:blip>
          <a:srcRect b="0" l="0" r="50940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41e59ed1ec_0_49"/>
          <p:cNvSpPr txBox="1"/>
          <p:nvPr/>
        </p:nvSpPr>
        <p:spPr>
          <a:xfrm>
            <a:off x="2318084" y="-14009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ES" sz="4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TABLAS</a:t>
            </a:r>
            <a:endParaRPr i="0" sz="4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29" name="Google Shape;129;g341e59ed1ec_0_49"/>
          <p:cNvSpPr txBox="1"/>
          <p:nvPr/>
        </p:nvSpPr>
        <p:spPr>
          <a:xfrm>
            <a:off x="1387642" y="1461865"/>
            <a:ext cx="9416700" cy="49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Una tabla es una estructura que organiza datos en filas y columnas.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Cada columna tiene un tipo de dato (NUMBER, VARCHAR2, DATE, etc.).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CREATE TABLE Clientes (</a:t>
            </a:r>
            <a:endParaRPr sz="25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	ClienteID NUMBER PRIMARY KEY,</a:t>
            </a:r>
            <a:endParaRPr sz="25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	Nombre VARCHAR2(50),</a:t>
            </a:r>
            <a:endParaRPr sz="25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	Ciudad VARCHAR2(50),</a:t>
            </a:r>
            <a:endParaRPr sz="25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	FechaNacimiento DATE</a:t>
            </a:r>
            <a:endParaRPr sz="25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sz="25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SELECT * FROM Clientes;</a:t>
            </a:r>
            <a:endParaRPr sz="25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399891" scaled="0"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134" name="Google Shape;134;g341e59ed1ec_0_64"/>
          <p:cNvPicPr preferRelativeResize="0"/>
          <p:nvPr/>
        </p:nvPicPr>
        <p:blipFill rotWithShape="1">
          <a:blip r:embed="rId3">
            <a:alphaModFix/>
          </a:blip>
          <a:srcRect b="0" l="0" r="50940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41e59ed1ec_0_64"/>
          <p:cNvSpPr txBox="1"/>
          <p:nvPr/>
        </p:nvSpPr>
        <p:spPr>
          <a:xfrm>
            <a:off x="2318084" y="-14009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ES" sz="4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LLAVES PRIMARIAS</a:t>
            </a:r>
            <a:endParaRPr i="0" sz="4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36" name="Google Shape;136;g341e59ed1ec_0_64"/>
          <p:cNvSpPr txBox="1"/>
          <p:nvPr/>
        </p:nvSpPr>
        <p:spPr>
          <a:xfrm>
            <a:off x="1387642" y="1461865"/>
            <a:ext cx="94167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Una llave primaria es un campo (o combinación de campos) que identifica de manera única cada fila en una tabla.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Restricciones: No puede ser NULL y debe ser única.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En la tabla Clientes, ClienteID es la llave primaria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399891" scaled="0"/>
        </a:gra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141" name="Google Shape;141;g341e59ed1ec_0_72"/>
          <p:cNvPicPr preferRelativeResize="0"/>
          <p:nvPr/>
        </p:nvPicPr>
        <p:blipFill rotWithShape="1">
          <a:blip r:embed="rId3">
            <a:alphaModFix/>
          </a:blip>
          <a:srcRect b="0" l="0" r="50940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41e59ed1ec_0_72"/>
          <p:cNvSpPr txBox="1"/>
          <p:nvPr/>
        </p:nvSpPr>
        <p:spPr>
          <a:xfrm>
            <a:off x="2318084" y="-14009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ES" sz="4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LLAVES FORANEA</a:t>
            </a:r>
            <a:endParaRPr i="0" sz="4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43" name="Google Shape;143;g341e59ed1ec_0_72"/>
          <p:cNvSpPr txBox="1"/>
          <p:nvPr/>
        </p:nvSpPr>
        <p:spPr>
          <a:xfrm>
            <a:off x="1387642" y="1461865"/>
            <a:ext cx="9416700" cy="5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Una llave foránea es un campo en una tabla que referencia la llave primaria de otra tabla, estableciendo una relación entre ellas.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Restricciones: Solo puede contener valores que existan en la llave primaria referenciada o NULL.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Ejemplo: Relación entre Pedidos y Clientes.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7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CREATE TABLE Pedidos (</a:t>
            </a:r>
            <a:endParaRPr sz="17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7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	PedidoID NUMBER PRIMARY KEY,</a:t>
            </a:r>
            <a:endParaRPr sz="17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7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	ClienteID NUMBER,</a:t>
            </a:r>
            <a:endParaRPr sz="17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7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	Total NUMBER,</a:t>
            </a:r>
            <a:endParaRPr sz="17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7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	FechaPedido DATE,</a:t>
            </a:r>
            <a:endParaRPr sz="17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7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	CONSTRAINT fk_pedido_cliente FOREIGN KEY (ClienteID) REFERENCES Clientes(ClienteID)</a:t>
            </a:r>
            <a:endParaRPr sz="17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sz="17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399891" scaled="0"/>
        </a:gra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148" name="Google Shape;148;g338d66cfbc7_0_3"/>
          <p:cNvPicPr preferRelativeResize="0"/>
          <p:nvPr/>
        </p:nvPicPr>
        <p:blipFill rotWithShape="1">
          <a:blip r:embed="rId3">
            <a:alphaModFix/>
          </a:blip>
          <a:srcRect b="0" l="0" r="50940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38d66cfbc7_0_3"/>
          <p:cNvSpPr txBox="1"/>
          <p:nvPr/>
        </p:nvSpPr>
        <p:spPr>
          <a:xfrm>
            <a:off x="2318084" y="-14009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ES" sz="4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RELACIONES</a:t>
            </a:r>
            <a:endParaRPr i="0" sz="4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50" name="Google Shape;150;g338d66cfbc7_0_3"/>
          <p:cNvSpPr txBox="1"/>
          <p:nvPr/>
        </p:nvSpPr>
        <p:spPr>
          <a:xfrm>
            <a:off x="1387642" y="1461865"/>
            <a:ext cx="94167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Uno a Muchos: Un cliente puede tener muchos pedidos (por ejemplo, Clientes → Pedidos).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Uno a Uno: Una relación donde cada registro en una tabla se asocia con un solo registro en otra (por ejemplo, un cliente con un perfil).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Muchos a Muchos: Requiere una tabla intermedia (por ejemplo, Pedidos y Productos a través de una tabla DetallesPedidos).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399891" scaled="0"/>
        </a:gra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155" name="Google Shape;155;g338d66cfbc7_0_12"/>
          <p:cNvPicPr preferRelativeResize="0"/>
          <p:nvPr/>
        </p:nvPicPr>
        <p:blipFill rotWithShape="1">
          <a:blip r:embed="rId3">
            <a:alphaModFix/>
          </a:blip>
          <a:srcRect b="0" l="0" r="50940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38d66cfbc7_0_12"/>
          <p:cNvSpPr txBox="1"/>
          <p:nvPr/>
        </p:nvSpPr>
        <p:spPr>
          <a:xfrm>
            <a:off x="2318084" y="-14009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ES" sz="4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RELACIONES</a:t>
            </a:r>
            <a:endParaRPr i="0" sz="4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57" name="Google Shape;157;g338d66cfbc7_0_12"/>
          <p:cNvSpPr txBox="1"/>
          <p:nvPr/>
        </p:nvSpPr>
        <p:spPr>
          <a:xfrm>
            <a:off x="1387642" y="1461865"/>
            <a:ext cx="94167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●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Ejemplo: Relación uno a muchos entre Clientes y Pedidos.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Un cliente puede tener múltiples pedidos, pero cada pedido pertenece a un solo cliente.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Representado por la llave foránea ClienteID en Pedidos.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399891" scaled="0"/>
        </a:gra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162" name="Google Shape;162;g33f13ac8ecd_0_62"/>
          <p:cNvPicPr preferRelativeResize="0"/>
          <p:nvPr/>
        </p:nvPicPr>
        <p:blipFill rotWithShape="1">
          <a:blip r:embed="rId3">
            <a:alphaModFix/>
          </a:blip>
          <a:srcRect b="0" l="0" r="50940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3f13ac8ecd_0_62"/>
          <p:cNvSpPr txBox="1"/>
          <p:nvPr/>
        </p:nvSpPr>
        <p:spPr>
          <a:xfrm>
            <a:off x="2302042" y="0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i="0" lang="es-ES" sz="40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AGENDA</a:t>
            </a:r>
            <a:endParaRPr i="0" sz="4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64" name="Google Shape;164;g33f13ac8ecd_0_62"/>
          <p:cNvSpPr txBox="1"/>
          <p:nvPr/>
        </p:nvSpPr>
        <p:spPr>
          <a:xfrm>
            <a:off x="1668379" y="946484"/>
            <a:ext cx="94167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i="0" lang="es-ES" sz="28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Información de contacto</a:t>
            </a:r>
            <a:endParaRPr i="0" sz="14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Introducción a GIT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Creación de repositorio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Basics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Introducción a Base de Datos Relacionales</a:t>
            </a:r>
            <a:endParaRPr i="0" sz="14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Tablas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Llaves primarias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Llaves foráneas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Relaciones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accent6"/>
                </a:solidFill>
                <a:latin typeface="Inconsolata"/>
                <a:ea typeface="Inconsolata"/>
                <a:cs typeface="Inconsolata"/>
                <a:sym typeface="Inconsolata"/>
              </a:rPr>
              <a:t>Ejercicio práctico</a:t>
            </a:r>
            <a:endParaRPr sz="2800">
              <a:solidFill>
                <a:schemeClr val="accent6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i="0" lang="es-ES" sz="28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Bibliografía</a:t>
            </a:r>
            <a:endParaRPr i="0" sz="28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399891" scaled="0"/>
        </a:gra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169" name="Google Shape;169;g338d66cfbc7_0_18"/>
          <p:cNvPicPr preferRelativeResize="0"/>
          <p:nvPr/>
        </p:nvPicPr>
        <p:blipFill rotWithShape="1">
          <a:blip r:embed="rId3">
            <a:alphaModFix/>
          </a:blip>
          <a:srcRect b="0" l="0" r="50940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38d66cfbc7_0_18"/>
          <p:cNvSpPr txBox="1"/>
          <p:nvPr/>
        </p:nvSpPr>
        <p:spPr>
          <a:xfrm>
            <a:off x="2318084" y="-14009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4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EJERCICIO PRÁCTICO</a:t>
            </a:r>
            <a:endParaRPr sz="40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71" name="Google Shape;171;g338d66cfbc7_0_18"/>
          <p:cNvSpPr txBox="1"/>
          <p:nvPr/>
        </p:nvSpPr>
        <p:spPr>
          <a:xfrm>
            <a:off x="1387642" y="1461865"/>
            <a:ext cx="94167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Ejecutar script sql proporcionado en archivo sesion1.sql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Crea una tabla DetallesPedidos para modelar una relación muchos a muchos entre Pedidos y Productos.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Inserta al menos 2 registros.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Diagramar base de datos en </a:t>
            </a:r>
            <a:r>
              <a:rPr lang="es-ES" sz="2800" u="sng">
                <a:solidFill>
                  <a:schemeClr val="hlink"/>
                </a:solidFill>
                <a:latin typeface="Inconsolata"/>
                <a:ea typeface="Inconsolata"/>
                <a:cs typeface="Inconsolata"/>
                <a:sym typeface="Inconsolata"/>
                <a:hlinkClick r:id="rId4"/>
              </a:rPr>
              <a:t>DBDIAGRAM</a:t>
            </a: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Almacenar diagrama en su repositorio personal.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399891" scaled="0"/>
        </a:gra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176" name="Google Shape;176;g342911eaa4a_0_0"/>
          <p:cNvPicPr preferRelativeResize="0"/>
          <p:nvPr/>
        </p:nvPicPr>
        <p:blipFill rotWithShape="1">
          <a:blip r:embed="rId3">
            <a:alphaModFix/>
          </a:blip>
          <a:srcRect b="0" l="0" r="50940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42911eaa4a_0_0"/>
          <p:cNvSpPr txBox="1"/>
          <p:nvPr/>
        </p:nvSpPr>
        <p:spPr>
          <a:xfrm>
            <a:off x="2318084" y="-14009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4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EJERCICIO PRÁCTICO</a:t>
            </a:r>
            <a:endParaRPr sz="40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78" name="Google Shape;178;g342911eaa4a_0_0"/>
          <p:cNvSpPr txBox="1"/>
          <p:nvPr/>
        </p:nvSpPr>
        <p:spPr>
          <a:xfrm>
            <a:off x="1387642" y="1461865"/>
            <a:ext cx="94167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-- Crear tabla DetallesPedidos</a:t>
            </a:r>
            <a:endParaRPr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CREATE TABLE DetallesPedidos (</a:t>
            </a:r>
            <a:endParaRPr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	DetalleID NUMBER PRIMARY KEY,</a:t>
            </a:r>
            <a:endParaRPr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	PedidoID NUMBER,</a:t>
            </a:r>
            <a:endParaRPr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	ProductoID NUMBER,</a:t>
            </a:r>
            <a:endParaRPr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	Cantidad NUMBER,</a:t>
            </a:r>
            <a:endParaRPr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	CONSTRAINT fk_detalle_pedido FOREIGN KEY (PedidoID) REFERENCES Pedidos(PedidoID),</a:t>
            </a:r>
            <a:endParaRPr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	CONSTRAINT fk_detalle_producto FOREIGN KEY (ProductoID) REFERENCES Productos(ProductoID)</a:t>
            </a:r>
            <a:endParaRPr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-- Insertar datos</a:t>
            </a:r>
            <a:endParaRPr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INSERT INTO DetallesPedidos VALUES (1, 101, 1, 2); -- Pedido 101: 2 Laptops</a:t>
            </a:r>
            <a:endParaRPr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INSERT INTO DetallesPedidos VALUES (2, 101, 2, 5); -- Pedido 101: 5 Mouse</a:t>
            </a:r>
            <a:endParaRPr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-- Verificar datos</a:t>
            </a:r>
            <a:endParaRPr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SELECT * FROM DetallesPedidos;</a:t>
            </a:r>
            <a:endParaRPr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-- Commit</a:t>
            </a:r>
            <a:endParaRPr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COMMIT;</a:t>
            </a:r>
            <a:endParaRPr sz="16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399891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183" name="Google Shape;183;g33f13ac8ecd_0_74"/>
          <p:cNvPicPr preferRelativeResize="0"/>
          <p:nvPr/>
        </p:nvPicPr>
        <p:blipFill rotWithShape="1">
          <a:blip r:embed="rId3">
            <a:alphaModFix/>
          </a:blip>
          <a:srcRect b="0" l="0" r="50940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3f13ac8ecd_0_74"/>
          <p:cNvSpPr txBox="1"/>
          <p:nvPr/>
        </p:nvSpPr>
        <p:spPr>
          <a:xfrm>
            <a:off x="2302042" y="0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i="0" lang="es-ES" sz="40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AGENDA</a:t>
            </a:r>
            <a:endParaRPr i="0" sz="4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85" name="Google Shape;185;g33f13ac8ecd_0_74"/>
          <p:cNvSpPr txBox="1"/>
          <p:nvPr/>
        </p:nvSpPr>
        <p:spPr>
          <a:xfrm>
            <a:off x="1668379" y="946484"/>
            <a:ext cx="94167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i="0" lang="es-ES" sz="2800" u="none" cap="none" strike="noStrike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Información de contacto</a:t>
            </a:r>
            <a:endParaRPr i="0" sz="14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Introducción a GIT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Creación de repositorio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Basics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Introducción a Base de Datos Relacionales</a:t>
            </a:r>
            <a:endParaRPr i="0" sz="14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Tablas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Llaves primarias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Llaves foráneas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Char char="○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Relaciones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Ejercicio práctico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Inconsolata"/>
              <a:buAutoNum type="arabicPeriod"/>
            </a:pPr>
            <a:r>
              <a:rPr i="0" lang="es-ES" sz="2800" u="none" cap="none" strike="noStrike">
                <a:solidFill>
                  <a:schemeClr val="accent6"/>
                </a:solidFill>
                <a:latin typeface="Inconsolata"/>
                <a:ea typeface="Inconsolata"/>
                <a:cs typeface="Inconsolata"/>
                <a:sym typeface="Inconsolata"/>
              </a:rPr>
              <a:t>Bibliografía</a:t>
            </a:r>
            <a:endParaRPr i="0" sz="28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64478"/>
            </a:gs>
            <a:gs pos="11000">
              <a:srgbClr val="264478"/>
            </a:gs>
            <a:gs pos="12000">
              <a:schemeClr val="dk1"/>
            </a:gs>
            <a:gs pos="90000">
              <a:schemeClr val="dk1"/>
            </a:gs>
            <a:gs pos="91000">
              <a:srgbClr val="254378"/>
            </a:gs>
            <a:gs pos="100000">
              <a:srgbClr val="254378"/>
            </a:gs>
          </a:gsLst>
          <a:lin ang="2399891" scaled="0"/>
        </a:gra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o&#10;&#10;Descripción generada automáticamente con confianza baja" id="190" name="Google Shape;190;g33f13ac8ecd_0_92"/>
          <p:cNvPicPr preferRelativeResize="0"/>
          <p:nvPr/>
        </p:nvPicPr>
        <p:blipFill rotWithShape="1">
          <a:blip r:embed="rId3">
            <a:alphaModFix/>
          </a:blip>
          <a:srcRect b="0" l="0" r="50940" t="0"/>
          <a:stretch/>
        </p:blipFill>
        <p:spPr>
          <a:xfrm>
            <a:off x="0" y="0"/>
            <a:ext cx="1293223" cy="119974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3f13ac8ecd_0_92"/>
          <p:cNvSpPr txBox="1"/>
          <p:nvPr/>
        </p:nvSpPr>
        <p:spPr>
          <a:xfrm>
            <a:off x="2318084" y="-14009"/>
            <a:ext cx="941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ES" sz="4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BIBLIOGRAFÍA</a:t>
            </a:r>
            <a:endParaRPr i="0" sz="4000" u="none" cap="none" strike="noStrike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92" name="Google Shape;192;g33f13ac8ecd_0_92"/>
          <p:cNvSpPr txBox="1"/>
          <p:nvPr/>
        </p:nvSpPr>
        <p:spPr>
          <a:xfrm>
            <a:off x="1387642" y="1461865"/>
            <a:ext cx="94167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lang="es-ES" sz="2800" u="sng">
                <a:solidFill>
                  <a:schemeClr val="hlink"/>
                </a:solidFill>
                <a:latin typeface="Inconsolata"/>
                <a:ea typeface="Inconsolata"/>
                <a:cs typeface="Inconsolata"/>
                <a:sym typeface="Inconsolata"/>
                <a:hlinkClick r:id="rId4"/>
              </a:rPr>
              <a:t>https://git-scm.com/doc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consolata"/>
              <a:buAutoNum type="arabicPeriod"/>
            </a:pPr>
            <a:r>
              <a:rPr lang="es-ES" sz="2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The practical SQL handbook: using structured query language, Emerson, Sandra L.; Darnousky, Marcy; Bowman, Judith s.</a:t>
            </a:r>
            <a:endParaRPr sz="2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2021-08-23T15:13:36Z</dcterms:created>
  <dc:creator>fnb003@alumnos.ucn.cl</dc:creator>
</cp:coreProperties>
</file>